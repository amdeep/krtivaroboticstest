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60120"/>
            <a:ext cx="1051560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K-EL/01 Split-Yoke Elbow Actuator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37744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C8E0E8"/>
                </a:solidFill>
              </a:defRPr>
            </a:pPr>
            <a:r>
              <a:t>Conceptual mechanical design • KR-MECH-INT-001</a:t>
            </a:r>
          </a:p>
        </p:txBody>
      </p:sp>
      <p:pic>
        <p:nvPicPr>
          <p:cNvPr id="5" name="Picture 4" descr="K_EL01_Concept_Dra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3017520"/>
            <a:ext cx="5212080" cy="368568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" y="3749039"/>
            <a:ext cx="47548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FFFFFF"/>
                </a:solidFill>
              </a:defRPr>
            </a:pPr>
            <a:r>
              <a:t>10-minute design walkthrough</a:t>
            </a:r>
            <a:br/>
            <a:r>
              <a:t>Presenter: Candidate</a:t>
            </a:r>
            <a:br/>
            <a:r>
              <a:t>25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1. Problem &amp; design basis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Use the brief inputs without silently inventing a full mission profile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3313A"/>
                </a:solidFill>
                <a:latin typeface="Aptos"/>
              </a:defRPr>
            </a:pPr>
            <a:r>
              <a:t>Payload: 1.0 kg at 350 mm from elbow axis</a:t>
            </a:r>
          </a:p>
          <a:p>
            <a:pPr>
              <a:spcAft>
                <a:spcPts val="1300"/>
              </a:spcAft>
              <a:defRPr sz="2000">
                <a:solidFill>
                  <a:srgbClr val="23313A"/>
                </a:solidFill>
                <a:latin typeface="Aptos"/>
              </a:defRPr>
            </a:pPr>
            <a:r>
              <a:t>Forearm + hand: 1.5 kg at 180 mm</a:t>
            </a:r>
          </a:p>
          <a:p>
            <a:pPr>
              <a:spcAft>
                <a:spcPts val="1300"/>
              </a:spcAft>
              <a:defRPr sz="2000">
                <a:solidFill>
                  <a:srgbClr val="23313A"/>
                </a:solidFill>
                <a:latin typeface="Aptos"/>
              </a:defRPr>
            </a:pPr>
            <a:r>
              <a:t>Horizontal forearm is the initial gravity-only case</a:t>
            </a:r>
          </a:p>
          <a:p>
            <a:pPr>
              <a:spcAft>
                <a:spcPts val="1300"/>
              </a:spcAft>
              <a:defRPr sz="2000">
                <a:solidFill>
                  <a:srgbClr val="23313A"/>
                </a:solidFill>
                <a:latin typeface="Aptos"/>
              </a:defRPr>
            </a:pPr>
            <a:r>
              <a:t>Output target 45 RPM; BLDC/PMSM + encoder; planetary preferred</a:t>
            </a:r>
          </a:p>
          <a:p>
            <a:pPr>
              <a:spcAft>
                <a:spcPts val="1300"/>
              </a:spcAft>
              <a:defRPr sz="2000">
                <a:solidFill>
                  <a:srgbClr val="23313A"/>
                </a:solidFill>
                <a:latin typeface="Aptos"/>
              </a:defRPr>
            </a:pPr>
            <a:r>
              <a:t>Illustrative link envelope: 300 mm upper arm / 350 mm forearm</a:t>
            </a:r>
          </a:p>
          <a:p>
            <a:pPr>
              <a:spcAft>
                <a:spcPts val="1300"/>
              </a:spcAft>
              <a:defRPr sz="2000">
                <a:solidFill>
                  <a:srgbClr val="23313A"/>
                </a:solidFill>
                <a:latin typeface="Aptos"/>
              </a:defRPr>
            </a:pPr>
            <a:r>
              <a:t>No duty cycle, acceleration, position accuracy, impact or power-loss holding requirement was supplied.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2. Static torque &amp; preliminary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Gravity-only result is a baseline, not a complete motion design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08760"/>
          <a:ext cx="7498079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9359"/>
                <a:gridCol w="2499359"/>
                <a:gridCol w="2499361"/>
              </a:tblGrid>
              <a:tr h="5334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Formula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Payload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1.0 × 9.81 × 0.350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3.4335 N·m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Forearm/hand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1.5 × 9.81 × 0.180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2.6487 N·m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Static 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3.4335 + 2.6487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6.0822 N·m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Preliminary 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2.0 × static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12.1644 N·m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Ideal output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12.1644 × 45×2π/60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500"/>
                      </a:pPr>
                      <a:r>
                        <a:t>57.32 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6459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313A"/>
                </a:solidFill>
                <a:latin typeface="Aptos"/>
              </a:defRPr>
            </a:pPr>
            <a:r>
              <a:t>The 2× multiplier is an assumption, not a certified safety factor.</a:t>
            </a:r>
          </a:p>
          <a:p>
            <a:pPr>
              <a:spcAft>
                <a:spcPts val="1300"/>
              </a:spcAft>
              <a:defRPr sz="1600">
                <a:solidFill>
                  <a:srgbClr val="23313A"/>
                </a:solidFill>
                <a:latin typeface="Aptos"/>
              </a:defRPr>
            </a:pPr>
            <a:r>
              <a:t>Dynamics and inertia can dominate peak/RMS sizing.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3. Drive candidate &amp; key caution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A shortlist is not a frozen supplier configuration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Motor candidate: maxon EC-i 52, 48 V, part 579165; nominal 4470 RPM, 0.423 N·m, 4.59 A.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Gearhead candidate: maxon GP 52 C, 91:1, part 223094; nominal input speed required = 4095 RPM.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At assumed 40% gearhead efficiency: ~0.334 N·m motor torque, ~143 W input screen, ~3.64 A torque-constant current screen.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At assumed 30% efficiency, simple continuous torque/current screen fails.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180 W class vs nominal T×ω ≈198 W: clarify rating point with maxon. EC-i curve is nonlinear; use actual curve, not a constant gradient.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4. Mechanical load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Torque transmission and radial support are deliberately separated</a:t>
            </a:r>
          </a:p>
        </p:txBody>
      </p:sp>
      <p:pic>
        <p:nvPicPr>
          <p:cNvPr id="5" name="Picture 4" descr="K_EL01_Concept_Draw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5880"/>
            <a:ext cx="7315200" cy="51728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46720" y="1417320"/>
            <a:ext cx="3566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3313A"/>
                </a:solidFill>
                <a:latin typeface="Aptos"/>
              </a:defRPr>
            </a:pPr>
            <a:r>
              <a:t>Torque: motor → GP52C → ROTEX GS coupling → independent spindle → flange/root plate → forearm.</a:t>
            </a:r>
          </a:p>
          <a:p>
            <a:pPr>
              <a:spcAft>
                <a:spcPts val="1300"/>
              </a:spcAft>
              <a:defRPr sz="1600">
                <a:solidFill>
                  <a:srgbClr val="23313A"/>
                </a:solidFill>
                <a:latin typeface="Aptos"/>
              </a:defRPr>
            </a:pPr>
            <a:r>
              <a:t>Radial load: forearm → spindle → two 6201 bearings → split yoke → upper arm.</a:t>
            </a:r>
          </a:p>
          <a:p>
            <a:pPr>
              <a:spcAft>
                <a:spcPts val="1300"/>
              </a:spcAft>
              <a:defRPr sz="1600">
                <a:solidFill>
                  <a:srgbClr val="23313A"/>
                </a:solidFill>
                <a:latin typeface="Aptos"/>
              </a:defRPr>
            </a:pPr>
            <a:r>
              <a:t>Bearing centres 50 mm apart; forearm load plane is 50 mm beyond rear-bearing centre.</a:t>
            </a:r>
          </a:p>
          <a:p>
            <a:pPr>
              <a:spcAft>
                <a:spcPts val="1300"/>
              </a:spcAft>
              <a:defRPr sz="1600">
                <a:solidFill>
                  <a:srgbClr val="23313A"/>
                </a:solidFill>
                <a:latin typeface="Aptos"/>
              </a:defRPr>
            </a:pPr>
            <a:r>
              <a:t>STEP is simplified envelope CAD: 21 solids, valid geometry; not proof of no interference or strength.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5. Structural &amp; accuracy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Useful for concept decisions; not final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3313A"/>
                </a:solidFill>
                <a:latin typeface="Aptos"/>
              </a:defRPr>
            </a:pPr>
            <a:r>
              <a:t>Gravity force from specified masses: 24.525 N; overhang moment: 1.22625 N·m = 1226.25 N·mm.</a:t>
            </a:r>
          </a:p>
          <a:p>
            <a:pPr>
              <a:spcAft>
                <a:spcPts val="1300"/>
              </a:spcAft>
              <a:defRPr sz="1900">
                <a:solidFill>
                  <a:srgbClr val="23313A"/>
                </a:solidFill>
                <a:latin typeface="Aptos"/>
              </a:defRPr>
            </a:pPr>
            <a:r>
              <a:t>Ø12 mm nominal spindle: bending 7.23 MPa; torsional shear 35.85 MPa; von Mises ~62.52 MPa.</a:t>
            </a:r>
          </a:p>
          <a:p>
            <a:pPr>
              <a:spcAft>
                <a:spcPts val="1300"/>
              </a:spcAft>
              <a:defRPr sz="1900">
                <a:solidFill>
                  <a:srgbClr val="23313A"/>
                </a:solidFill>
                <a:latin typeface="Aptos"/>
              </a:defRPr>
            </a:pPr>
            <a:r>
              <a:t>Stress screens omit keyway/notch factors, fatigue, shock, dynamic loads, detailed spindle geometry and deflection.</a:t>
            </a:r>
          </a:p>
          <a:p>
            <a:pPr>
              <a:spcAft>
                <a:spcPts val="1300"/>
              </a:spcAft>
              <a:defRPr sz="1900">
                <a:solidFill>
                  <a:srgbClr val="23313A"/>
                </a:solidFill>
                <a:latin typeface="Aptos"/>
              </a:defRPr>
            </a:pPr>
            <a:r>
              <a:t>At 1° average no-load backlash, payload-radius arc is ~6.11 mm at 350 mm.</a:t>
            </a:r>
          </a:p>
          <a:p>
            <a:pPr>
              <a:spcAft>
                <a:spcPts val="1300"/>
              </a:spcAft>
              <a:defRPr sz="1900">
                <a:solidFill>
                  <a:srgbClr val="23313A"/>
                </a:solidFill>
                <a:latin typeface="Aptos"/>
              </a:defRPr>
            </a:pPr>
            <a:r>
              <a:t>The final position error also includes compliance, controller/encoder, assembly and load effects.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6. Major risks &amp; next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Close mission requirements and vendor evidence before freezing hardware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Thermal/duty risk: define trajectory, acceleration, cycles and ambient; obtain loaded motor curve and gearhead efficiency; calculate peak/RMS torque.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Mechanical risk: confirm coupling hubs/keying, spindle section/fits, bearing life, carrier stiffness and fasteners.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Safety risk: clarify gravity hold during power loss; add rated normally-engaged brake or explicitly limit to externally supported supervised use.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Accuracy risk: 1° no-load backlash may be too high; define output-position tolerance and evaluate lower-backlash reducer/output feedback.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Validate with a guarded supervised test only after the configuration is confirmed.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247"/>
                </a:solidFill>
                <a:latin typeface="Aptos Display"/>
              </a:defRPr>
            </a:pPr>
            <a:r>
              <a:t>7. Conclusion &amp;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57080"/>
                </a:solidFill>
              </a:defRPr>
            </a:pPr>
            <a:r>
              <a:t>Concept submission complete; engineering release is intentionally not claimed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Static target: 6.0822 N·m required; 12.1644 N·m preliminary target.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Candidate 91:1 drive is kinematically plausible but needs supplier-confirmed loaded operation and thermal validation.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Included package: report, workbook/CSVs, BOM, official reference matrix, STEP/source/macro, concept artwork, QA/gap plan, verification plan, presentation and discussion notes.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Native .FCStd was not created because FreeCAD is unavailable in this environment; run included macro on FreeCAD to create it.</a:t>
            </a:r>
          </a:p>
          <a:p>
            <a:pPr>
              <a:spcAft>
                <a:spcPts val="1300"/>
              </a:spcAft>
              <a:defRPr sz="1800">
                <a:solidFill>
                  <a:srgbClr val="23313A"/>
                </a:solidFill>
                <a:latin typeface="Aptos"/>
              </a:defRPr>
            </a:pPr>
            <a:r>
              <a:t>No purchase, manufacture, FEA, physical test or certification is claimed.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6547104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57080"/>
                </a:solidFill>
              </a:defRPr>
            </a:pPr>
            <a:r>
              <a:t>K-EL/01 • Concept only • 25 October 2026                                                      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